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Mumbai</c:v>
                  </c:pt>
                  <c:pt idx="1">
                    <c:v>Bengaluru</c:v>
                  </c:pt>
                  <c:pt idx="2">
                    <c:v>Delhi</c:v>
                  </c:pt>
                  <c:pt idx="3">
                    <c:v>Chennai</c:v>
                  </c:pt>
                  <c:pt idx="4">
                    <c:v>Kolkata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1250000</c:v>
                </c:pt>
                <c:pt idx="1">
                  <c:v>980000</c:v>
                </c:pt>
                <c:pt idx="2">
                  <c:v>830000</c:v>
                </c:pt>
                <c:pt idx="3">
                  <c:v>760000</c:v>
                </c:pt>
                <c:pt idx="4">
                  <c:v>640000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2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(₹ Lakhs)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Flat A</c:v>
                  </c:pt>
                  <c:pt idx="1">
                    <c:v>Flat B</c:v>
                  </c:pt>
                  <c:pt idx="2">
                    <c:v>Flat C</c:v>
                  </c:pt>
                  <c:pt idx="3">
                    <c:v>Flat D</c:v>
                  </c:pt>
                  <c:pt idx="4">
                    <c:v>Villa X
(OUTLIER!)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92</c:v>
                </c:pt>
                <c:pt idx="2">
                  <c:v>78</c:v>
                </c:pt>
                <c:pt idx="3">
                  <c:v>88</c:v>
                </c:pt>
                <c:pt idx="4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2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8412480" cy="2377440"/>
          </a:xfrm>
          <a:prstGeom prst="roundRect">
            <a:avLst>
              <a:gd name="adj" fmla="val 6923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65836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8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DAY 2 · QUEST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Data Quest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SQL · APIs · Data Cleaning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jagah se data laao — phir saaf karo 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L1  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10896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31089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L2  JSON &amp; 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10896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1089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L3  APIs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310896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6A34A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31089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L4  Data Cleaning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"Garbage In = Garbage Out  —  Data Scientists ka Golden Rule"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448056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4480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⚡ 220 XP Total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1 · CSV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— Comma Separated Values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0789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kya hai?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38988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simple table file — Excel jaisi lekin plain text mein.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row = ek record, values commas se alag.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banks, govt sab CSV use karte hain.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024128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1E2A42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1097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 city, amount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9160" y="13350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Mumbai, 500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 Surat, 300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 Delhi, 150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0916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pd.read_csv('orders.csv')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542032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63347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" y="30358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karke calculate karo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IPL ticket revenue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91840" y="2542032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263347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8620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chunksize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456432" y="30358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100MB+ file ko chunks mein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overflow nahi hogi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17920" y="2542032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63347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index=False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382512" y="30358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mein extra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hataane ke liye zaroor likho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65760" y="4041648"/>
            <a:ext cx="8412480" cy="640080"/>
          </a:xfrm>
          <a:prstGeom prst="roundRect">
            <a:avLst>
              <a:gd name="adj" fmla="val 17143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13308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41239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920240" y="412394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df.to_csv('output.csv', index=False)  ← Ye chhoda toh ek extra 0,1,2,3... column file mein aa jaati hai!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1 · ADVANCED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groupby() + chunksize — Real Power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200400"/>
          </a:xfrm>
          <a:prstGeom prst="roundRect">
            <a:avLst>
              <a:gd name="adj" fmla="val 3429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City-wise Ticket Revenue (groupby)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89888"/>
          <a:ext cx="47548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532120" y="100584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1E2A42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1078992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city_rev = df.groupby('city')\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['ticket_price'].sum()\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.sort_values(ascending=False)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print(city_rev)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32120" y="278892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85292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chunksize — Bade files ke liye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650992" y="3200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pd.read_csv(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'big.csv', chunksize=10000):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process(chunk)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4343400"/>
            <a:ext cx="8412480" cy="502920"/>
          </a:xfrm>
          <a:prstGeom prst="roundRect">
            <a:avLst>
              <a:gd name="adj" fmla="val 21818"/>
            </a:avLst>
          </a:prstGeom>
          <a:solidFill>
            <a:srgbClr val="1E2A42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48640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CSVs ek saath: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560320" y="440740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= glob.glob('monthly_*.csv')  →  pd.concat([pd.read_csv(f) for f in files])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2 · JSON &amp; SQL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vs SQL — Kab Kya Use Karein?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48640"/>
          </a:xfrm>
          <a:prstGeom prst="roundRect">
            <a:avLst>
              <a:gd name="adj" fmla="val 20000"/>
            </a:avLst>
          </a:prstGeom>
          <a:solidFill>
            <a:srgbClr val="2A1B3D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4241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Analogy:  JSON = Telegram message (free format — kuch bhi rakh sako)  |  SQL = Bank ledger (strict rows &amp; relations)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160520" cy="2468880"/>
          </a:xfrm>
          <a:prstGeom prst="roundRect">
            <a:avLst>
              <a:gd name="adj" fmla="val 4444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7647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Nested 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10312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"order_id": "SWG001",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"Rahul",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"city": "Surat"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"items":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{"name":"Paneer","price":280}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1664208"/>
            <a:ext cx="4069080" cy="2468880"/>
          </a:xfrm>
          <a:prstGeom prst="roundRect">
            <a:avLst>
              <a:gd name="adj" fmla="val 4444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7647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Relational Tables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148840"/>
          <a:ext cx="3749040" cy="1371600"/>
        </p:xfrm>
        <a:graphic>
          <a:graphicData uri="http://schemas.openxmlformats.org/drawingml/2006/table">
            <a:tbl>
              <a:tblPr/>
              <a:tblGrid>
                <a:gridCol w="1249680"/>
                <a:gridCol w="1249680"/>
                <a:gridCol w="12496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SWG001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SWG002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SWG003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4846320" y="3566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se tables link hoti hain!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425196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48640" y="43159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json.load(f) = FILE se padhna  |  json.loads(text) = STRING se padhna   — 's' = string, bas itna yaad rakho!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2 · SQLITE3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SQL — sqlite3 se Direct Database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1097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 zaroor?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databases mein hota hai — CSV mein nahi!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already Python ke saath aata hai.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5577840" cy="3246120"/>
          </a:xfrm>
          <a:prstGeom prst="roundRect">
            <a:avLst>
              <a:gd name="adj" fmla="val 3380"/>
            </a:avLst>
          </a:prstGeom>
          <a:solidFill>
            <a:srgbClr val="1E2A42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83280" y="109728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sqlite3, pandas as pd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sqlite3.connect('shop.db')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conn.cursor()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Table banao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cursor.execute('''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TABLE IF NOT EXISTS sales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INTEGER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 TEXT, city TEXT,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 REAL, date 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→ DataFrame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pd.read_sql_query(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 * FROM sales WHERE amount &gt; 40",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conn.close()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33172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957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0392" y="24048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ke liye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sqlalchemy import create_engine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64992"/>
          <a:ext cx="8412480" cy="1417320"/>
        </p:xfrm>
        <a:graphic>
          <a:graphicData uri="http://schemas.openxmlformats.org/drawingml/2006/table">
            <a:tbl>
              <a:tblPr/>
              <a:tblGrid>
                <a:gridCol w="1645920"/>
                <a:gridCol w="2148840"/>
                <a:gridCol w="2148840"/>
                <a:gridCol w="24688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/ configs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linked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pd.read_csv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3 · APIs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se Data Fetch karna — requests library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1A2030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698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API = Waiter:  Tu order deta hai (request) → Waiter server se laata hai (response) → Tujhe milta hai (data)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502920" cy="219456"/>
          </a:xfrm>
          <a:prstGeom prst="roundRect">
            <a:avLst>
              <a:gd name="adj" fmla="val 41667"/>
            </a:avLst>
          </a:prstGeom>
          <a:solidFill>
            <a:srgbClr val="16A34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031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1214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 — data mil gaya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502920" cy="219456"/>
          </a:xfrm>
          <a:prstGeom prst="roundRect">
            <a:avLst>
              <a:gd name="adj" fmla="val 41667"/>
            </a:avLst>
          </a:prstGeom>
          <a:solidFill>
            <a:srgbClr val="DB2777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774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404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8992" y="23957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URL galat hai — nahi mila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502920" cy="219456"/>
          </a:xfrm>
          <a:prstGeom prst="roundRect">
            <a:avLst>
              <a:gd name="adj" fmla="val 41667"/>
            </a:avLst>
          </a:prstGeom>
          <a:solidFill>
            <a:srgbClr val="C2410C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517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401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8992" y="26700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fail — key galat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502920" cy="219456"/>
          </a:xfrm>
          <a:prstGeom prst="roundRect">
            <a:avLst>
              <a:gd name="adj" fmla="val 41667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926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429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8992" y="29443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Rate limit — bahut zyada calls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502920" cy="219456"/>
          </a:xfrm>
          <a:prstGeom prst="roundRect">
            <a:avLst>
              <a:gd name="adj" fmla="val 41667"/>
            </a:avLst>
          </a:prstGeom>
          <a:solidFill>
            <a:srgbClr val="DB2777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2004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78992" y="32186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Server ki galti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719072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E2A42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1783080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'https://api.open-meteo.com/v1/forecast',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params={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'latitude': 21.17,   # Surat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'longitude': 72.83,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'current_weather': True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response.json()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print(data['current_weather']['temperature'])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8412480" cy="1143000"/>
          </a:xfrm>
          <a:prstGeom prst="roundRect">
            <a:avLst>
              <a:gd name="adj" fmla="val 96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730752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96112" y="37398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Golden Rule: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96112" y="40416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kabhi code mein hardcode mat karo — GitHub pe push hua toh khatam!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663440" y="373075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import 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API_KEY = os.environ.get('MY_API_KEY')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3 · PAGINATION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 + Rate Limiting — Pro API Calls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234440"/>
          </a:xfrm>
          <a:prstGeom prst="roundRect">
            <a:avLst>
              <a:gd name="adj" fmla="val 8889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Pagination kya hoti hai?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ek baar mein 100 records deti hai → tum page=1, page=2... maangke loop karo → time.sleep() zaroor!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1188720" cy="566928"/>
          </a:xfrm>
          <a:prstGeom prst="roundRect">
            <a:avLst>
              <a:gd name="adj" fmla="val 16129"/>
            </a:avLst>
          </a:prstGeom>
          <a:solidFill>
            <a:srgbClr val="1E2A42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37744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page=1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100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560320"/>
            <a:ext cx="22860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783080" y="2359152"/>
            <a:ext cx="1188720" cy="566928"/>
          </a:xfrm>
          <a:prstGeom prst="roundRect">
            <a:avLst>
              <a:gd name="adj" fmla="val 16129"/>
            </a:avLst>
          </a:prstGeom>
          <a:solidFill>
            <a:srgbClr val="1E2A42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828800" y="237744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extend()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60320"/>
            <a:ext cx="22860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00400" y="2359152"/>
            <a:ext cx="1188720" cy="566928"/>
          </a:xfrm>
          <a:prstGeom prst="roundRect">
            <a:avLst>
              <a:gd name="adj" fmla="val 16129"/>
            </a:avLst>
          </a:prstGeom>
          <a:solidFill>
            <a:srgbClr val="1E2A42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246120" y="237744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page++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560320"/>
            <a:ext cx="22860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617720" y="2359152"/>
            <a:ext cx="1188720" cy="566928"/>
          </a:xfrm>
          <a:prstGeom prst="roundRect">
            <a:avLst>
              <a:gd name="adj" fmla="val 16129"/>
            </a:avLst>
          </a:prstGeom>
          <a:solidFill>
            <a:srgbClr val="1E2A42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663440" y="237744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Sleep(0.5s)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560320"/>
            <a:ext cx="22860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035040" y="2359152"/>
            <a:ext cx="1188720" cy="566928"/>
          </a:xfrm>
          <a:prstGeom prst="roundRect">
            <a:avLst>
              <a:gd name="adj" fmla="val 16129"/>
            </a:avLst>
          </a:prstGeom>
          <a:solidFill>
            <a:srgbClr val="1E2A42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080760" y="237744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page=2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100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560320"/>
            <a:ext cx="228600" cy="18288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452360" y="2359152"/>
            <a:ext cx="1188720" cy="566928"/>
          </a:xfrm>
          <a:prstGeom prst="roundRect">
            <a:avLst>
              <a:gd name="adj" fmla="val 16129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7498080" y="237744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khatam?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Break!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365760" y="3063240"/>
            <a:ext cx="8412480" cy="1600200"/>
          </a:xfrm>
          <a:prstGeom prst="roundRect">
            <a:avLst>
              <a:gd name="adj" fmla="val 6857"/>
            </a:avLst>
          </a:prstGeom>
          <a:solidFill>
            <a:srgbClr val="1E2A42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548640" y="3127248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fetch_all_pages(base_url, api_key):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all_records, page = [],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page &lt;= 10: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requests.get(base_url, params={'api_key': api_key, 'page': page, 'per_page': 100})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r.status_code == 200: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records = r.json().get('results', [])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not records: break           # Sab pages khatam!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all_records.extend(records)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page +=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time.sleep(0.5)                 # ← ZAROOR! Warna IP ban!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r.status_code == 429: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time.sleep(60)                  # Rate limit — ruk ja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all_records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4 · DATA UNDERSTANDING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Toolkit — Pehle Data Samjho!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02920"/>
          </a:xfrm>
          <a:prstGeom prst="roundRect">
            <a:avLst>
              <a:gd name="adj" fmla="val 21818"/>
            </a:avLst>
          </a:prstGeom>
          <a:solidFill>
            <a:srgbClr val="122B1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698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"Model banane se pehle data samjho!" — Data Scientists apna 60–70% time EDA mein lagate hain, coding mein sirf 30%!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1627632" cy="2606040"/>
          </a:xfrm>
          <a:prstGeom prst="roundRect">
            <a:avLst>
              <a:gd name="adj" fmla="val 6742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71907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" y="233172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Info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265176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" y="35204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Kitni rows/cols?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 kya hai?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39112" y="1645920"/>
            <a:ext cx="1627632" cy="2606040"/>
          </a:xfrm>
          <a:prstGeom prst="roundRect">
            <a:avLst>
              <a:gd name="adj" fmla="val 6742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87752" y="171907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587752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12264" y="233172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12264" y="265176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df['col'].value_counts()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12264" y="35204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min,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max, quartiles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58184" y="1645920"/>
            <a:ext cx="1627632" cy="2606040"/>
          </a:xfrm>
          <a:prstGeom prst="roundRect">
            <a:avLst>
              <a:gd name="adj" fmla="val 6742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06824" y="171907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21" name="Text 19"/>
          <p:cNvSpPr/>
          <p:nvPr/>
        </p:nvSpPr>
        <p:spPr>
          <a:xfrm>
            <a:off x="4306824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31336" y="233172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31336" y="265176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len(df) × 100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31336" y="35204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% check karo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15%+ = plan banao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77256" y="1645920"/>
            <a:ext cx="1627632" cy="2606040"/>
          </a:xfrm>
          <a:prstGeom prst="roundRect">
            <a:avLst>
              <a:gd name="adj" fmla="val 6742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171907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27" name="Text 25"/>
          <p:cNvSpPr/>
          <p:nvPr/>
        </p:nvSpPr>
        <p:spPr>
          <a:xfrm>
            <a:off x="6025896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50408" y="233172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50408" y="265176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50408" y="35204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=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overfit!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96328" y="1645920"/>
            <a:ext cx="1627632" cy="2606040"/>
          </a:xfrm>
          <a:prstGeom prst="roundRect">
            <a:avLst>
              <a:gd name="adj" fmla="val 6742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44968" y="171907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7744968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69480" y="233172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69480" y="265176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sns.heatmap(...)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269480" y="35204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kitne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hain?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370832"/>
            <a:ext cx="8412480" cy="502920"/>
          </a:xfrm>
          <a:prstGeom prst="roundRect">
            <a:avLst>
              <a:gd name="adj" fmla="val 21818"/>
            </a:avLst>
          </a:prstGeom>
          <a:solidFill>
            <a:srgbClr val="1E2A42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442569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→  count | mean | std | min | 25% | 50% (median) | 75% | max  — ek function, poori duniya! 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4 · DATA CLEANING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— 3 Main Problems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" y="1097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 Values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44475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karo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df.dropna(subset=['id'])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Median (numbers)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df['age'].fillna(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df['age'].median())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 (category)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df['city'].fillna(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df['city'].mode()[0])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Time series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df['price'].fillna(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method='ffill')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7899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0752" y="1097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Outliers (IQR)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3280" y="144475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df['price'].quantile(0.25)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df['price'].quantile(0.75)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= Q1 - 1.5 * IQR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= Q3 + 1.5 * IQR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karo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 = df[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(df['price'] &gt;= lower) &amp;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(df['price'] &lt;= upper)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 clip karo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df['price'].clip(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lower, upper)</a:t>
            </a:r>
            <a:endParaRPr lang="en-US" sz="880" dirty="0"/>
          </a:p>
        </p:txBody>
      </p:sp>
      <p:sp>
        <p:nvSpPr>
          <p:cNvPr id="13" name="Shape 9"/>
          <p:cNvSpPr/>
          <p:nvPr/>
        </p:nvSpPr>
        <p:spPr>
          <a:xfrm>
            <a:off x="6035040" y="10058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7899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19672" y="1097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Messy Strings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172200" y="144475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Spaces &amp; case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df['city'].str.strip()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df['city'].str.lower()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Date fix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df['date'],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errors='coerce')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Price (₹ hata)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df['price'].str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.replace('₹','')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.replace(',','')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pd.to_numeric(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df['price'],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errors='coerce')</a:t>
            </a:r>
            <a:endParaRPr lang="en-US" sz="880" dirty="0"/>
          </a:p>
        </p:txBody>
      </p:sp>
      <p:sp>
        <p:nvSpPr>
          <p:cNvPr id="17" name="Shape 12"/>
          <p:cNvSpPr/>
          <p:nvPr/>
        </p:nvSpPr>
        <p:spPr>
          <a:xfrm>
            <a:off x="365760" y="4507992"/>
            <a:ext cx="8412480" cy="384048"/>
          </a:xfrm>
          <a:prstGeom prst="roundRect">
            <a:avLst>
              <a:gd name="adj" fmla="val 28571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Medical data mein missing = patient ne jawab nahi diya — zero se fill mat karo! Context samjho!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LEVEL 4 · OUTLIERS VISUAL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Method — Visually Samjho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Property Prices — Outlier problem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389888"/>
          <a:ext cx="4937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1005840"/>
            <a:ext cx="3154680" cy="3291840"/>
          </a:xfrm>
          <a:prstGeom prst="roundRect">
            <a:avLst>
              <a:gd name="adj" fmla="val 3478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078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Steps: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14447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5760720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08192" y="14630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25th percentile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60720" y="19110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08192" y="192938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= 75th percentile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60720" y="23774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08192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Q3 − Q1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760720" y="28437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20" name="Text 17"/>
          <p:cNvSpPr/>
          <p:nvPr/>
        </p:nvSpPr>
        <p:spPr>
          <a:xfrm>
            <a:off x="576072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08192" y="28620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Q1 − 1.5×IQR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760720" y="33101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23" name="Text 20"/>
          <p:cNvSpPr/>
          <p:nvPr/>
        </p:nvSpPr>
        <p:spPr>
          <a:xfrm>
            <a:off x="576072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08192" y="332841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= Q3 + 1.5×IQR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60720" y="37764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576072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08192" y="37947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Bahar wale = outliers!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23560" y="3749040"/>
            <a:ext cx="3154680" cy="502920"/>
          </a:xfrm>
          <a:prstGeom prst="roundRect">
            <a:avLst>
              <a:gd name="adj" fmla="val 21818"/>
            </a:avLst>
          </a:prstGeom>
          <a:solidFill>
            <a:srgbClr val="1E2A42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76072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 bhi hai: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760720" y="40233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abs(zscore) &lt; 3 = normal range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65760" y="438912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1E2A42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48640" y="44439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cleaning: Mean = ₹1069 lakhs  |  Cleaning ke baad: Mean = ₹85.75 lakhs  — Kitna fark! 😱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QUEST COMPLETE 🏆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Final Summary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3200400"/>
        </p:xfrm>
        <a:graphic>
          <a:graphicData uri="http://schemas.openxmlformats.org/drawingml/2006/table">
            <a:tbl>
              <a:tblPr/>
              <a:tblGrid>
                <a:gridCol w="1051560"/>
                <a:gridCol w="2011680"/>
                <a:gridCol w="2788920"/>
                <a:gridCol w="2560320"/>
              </a:tblGrid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Takeaway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Example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 CSV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read_csv, groupby, chunksize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index=False har export mein!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IPL ticket sales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 CSV Adv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files, agg()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 + concat = all-in-one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Zomato monthly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 JSON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json.load vs json.loads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's' = string — bas yaad rakho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 order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 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sqlite3, pd.read_sql_query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+ pandas = best combo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transactions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requests.get, status codes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.env mein! 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Weather/Cricket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 Adv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Pagination, time.sleep()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nahi = IP ban! 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REST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 EDA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describe, isnull, corr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60-70% time yahan lagta hai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datasets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 Clean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Missing, Outlier, Strings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samjho, zero mat bharo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property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407408"/>
            <a:ext cx="8412480" cy="475488"/>
          </a:xfrm>
          <a:prstGeom prst="roundRect">
            <a:avLst>
              <a:gd name="adj" fmla="val 23077"/>
            </a:avLst>
          </a:prstGeom>
          <a:solidFill>
            <a:srgbClr val="1A2236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4622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Garbage In = Garbage Out   |   🔐 API key .env mein   |   😴 Pagination mein sleep()   |   🧹 60-70% time cleaning mein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Quest — Day 2</dc:title>
  <dc:subject>PptxGenJS Presentation</dc:subject>
  <dc:creator>Sensei Bot</dc:creator>
  <cp:lastModifiedBy>Sensei Bot</cp:lastModifiedBy>
  <cp:revision>1</cp:revision>
  <dcterms:created xsi:type="dcterms:W3CDTF">2026-06-18T10:49:05Z</dcterms:created>
  <dcterms:modified xsi:type="dcterms:W3CDTF">2026-06-18T10:49:05Z</dcterms:modified>
</cp:coreProperties>
</file>